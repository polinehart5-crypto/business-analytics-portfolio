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71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3" r:id="rId6"/>
    <p:sldId id="262" r:id="rId7"/>
    <p:sldId id="260" r:id="rId8"/>
    <p:sldId id="264" r:id="rId9"/>
  </p:sldIdLst>
  <p:sldSz cx="9144000" cy="5143500" type="screen16x9"/>
  <p:notesSz cx="6858000" cy="9144000"/>
  <p:embeddedFontLst>
    <p:embeddedFont>
      <p:font typeface="Livvic" pitchFamily="2" charset="77"/>
      <p:regular r:id="rId11"/>
      <p:bold r:id="rId12"/>
      <p:italic r:id="rId13"/>
      <p:boldItalic r:id="rId14"/>
    </p:embeddedFont>
    <p:embeddedFont>
      <p:font typeface="Livvic Medium" pitchFamily="2" charset="77"/>
      <p:regular r:id="rId15"/>
      <p:bold r:id="rId16"/>
      <p:italic r:id="rId17"/>
      <p:boldItalic r:id="rId18"/>
    </p:embeddedFont>
    <p:embeddedFont>
      <p:font typeface="Livvic SemiBold" pitchFamily="2" charset="77"/>
      <p:regular r:id="rId19"/>
      <p:bold r:id="rId20"/>
      <p:italic r:id="rId21"/>
      <p:boldItalic r:id="rId22"/>
    </p:embeddedFont>
    <p:embeddedFont>
      <p:font typeface="Poppins" pitchFamily="2" charset="77"/>
      <p:regular r:id="rId23"/>
      <p:bold r:id="rId24"/>
      <p:italic r:id="rId25"/>
      <p:boldItalic r:id="rId26"/>
    </p:embeddedFont>
    <p:embeddedFont>
      <p:font typeface="Poppins Medium" pitchFamily="2" charset="77"/>
      <p:regular r:id="rId27"/>
      <p:bold r:id="rId28"/>
      <p:italic r:id="rId29"/>
      <p:boldItalic r:id="rId30"/>
    </p:embeddedFont>
    <p:embeddedFont>
      <p:font typeface="Poppins SemiBold" pitchFamily="2" charset="77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B04A80F-DB93-4925-BFB9-166D2DA2978F}">
  <a:tblStyle styleId="{DB04A80F-DB93-4925-BFB9-166D2DA297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05"/>
    <p:restoredTop sz="94678"/>
  </p:normalViewPr>
  <p:slideViewPr>
    <p:cSldViewPr snapToGrid="0">
      <p:cViewPr varScale="1">
        <p:scale>
          <a:sx n="113" d="100"/>
          <a:sy n="113" d="100"/>
        </p:scale>
        <p:origin x="176" y="8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21" Type="http://schemas.openxmlformats.org/officeDocument/2006/relationships/font" Target="fonts/font11.fntdata"/><Relationship Id="rId34" Type="http://schemas.openxmlformats.org/officeDocument/2006/relationships/font" Target="fonts/font24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font" Target="fonts/font2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font" Target="fonts/font2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36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d0c7d16c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d0c7d16c6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e3542f3a95_0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e3542f3a95_0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e013acee29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e013acee29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db0f9523dd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db0f9523dd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e013acee2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e013acee2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db0f9523d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db0f9523d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db0f9523dd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db0f9523dd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54469" y="4438606"/>
            <a:ext cx="331056" cy="330997"/>
          </a:xfrm>
          <a:custGeom>
            <a:avLst/>
            <a:gdLst/>
            <a:ahLst/>
            <a:cxnLst/>
            <a:rect l="l" t="t" r="r" b="b"/>
            <a:pathLst>
              <a:path w="23817" h="23817" extrusionOk="0">
                <a:moveTo>
                  <a:pt x="23817" y="0"/>
                </a:moveTo>
                <a:cubicBezTo>
                  <a:pt x="10662" y="0"/>
                  <a:pt x="0" y="10662"/>
                  <a:pt x="0" y="23817"/>
                </a:cubicBezTo>
                <a:lnTo>
                  <a:pt x="23817" y="23817"/>
                </a:lnTo>
                <a:lnTo>
                  <a:pt x="2381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19100" y="539400"/>
            <a:ext cx="7705800" cy="4064700"/>
            <a:chOff x="719100" y="539400"/>
            <a:chExt cx="7705800" cy="4064700"/>
          </a:xfrm>
        </p:grpSpPr>
        <p:cxnSp>
          <p:nvCxnSpPr>
            <p:cNvPr id="11" name="Google Shape;11;p2"/>
            <p:cNvCxnSpPr/>
            <p:nvPr/>
          </p:nvCxnSpPr>
          <p:spPr>
            <a:xfrm>
              <a:off x="719100" y="5394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719100" y="46041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120175" y="951399"/>
            <a:ext cx="5874300" cy="255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5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237375" y="3620702"/>
            <a:ext cx="3969300" cy="325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 rot="5400000">
            <a:off x="8233251" y="348662"/>
            <a:ext cx="381489" cy="381489"/>
          </a:xfrm>
          <a:custGeom>
            <a:avLst/>
            <a:gdLst/>
            <a:ahLst/>
            <a:cxnLst/>
            <a:rect l="l" t="t" r="r" b="b"/>
            <a:pathLst>
              <a:path w="23817" h="23817" extrusionOk="0">
                <a:moveTo>
                  <a:pt x="23817" y="0"/>
                </a:moveTo>
                <a:cubicBezTo>
                  <a:pt x="10662" y="0"/>
                  <a:pt x="0" y="10662"/>
                  <a:pt x="0" y="23817"/>
                </a:cubicBezTo>
                <a:lnTo>
                  <a:pt x="23817" y="23817"/>
                </a:lnTo>
                <a:lnTo>
                  <a:pt x="2381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719100" y="539400"/>
            <a:ext cx="7705800" cy="4064700"/>
            <a:chOff x="719100" y="539400"/>
            <a:chExt cx="7705800" cy="4064700"/>
          </a:xfrm>
        </p:grpSpPr>
        <p:cxnSp>
          <p:nvCxnSpPr>
            <p:cNvPr id="26" name="Google Shape;26;p4"/>
            <p:cNvCxnSpPr/>
            <p:nvPr/>
          </p:nvCxnSpPr>
          <p:spPr>
            <a:xfrm>
              <a:off x="719100" y="5394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4"/>
            <p:cNvCxnSpPr/>
            <p:nvPr/>
          </p:nvCxnSpPr>
          <p:spPr>
            <a:xfrm>
              <a:off x="719100" y="46041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0000" y="5380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0000" y="1127000"/>
            <a:ext cx="7704000" cy="3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 rot="10800000">
            <a:off x="8243792" y="4413356"/>
            <a:ext cx="381489" cy="381489"/>
          </a:xfrm>
          <a:custGeom>
            <a:avLst/>
            <a:gdLst/>
            <a:ahLst/>
            <a:cxnLst/>
            <a:rect l="l" t="t" r="r" b="b"/>
            <a:pathLst>
              <a:path w="23817" h="23817" extrusionOk="0">
                <a:moveTo>
                  <a:pt x="23817" y="0"/>
                </a:moveTo>
                <a:cubicBezTo>
                  <a:pt x="10662" y="0"/>
                  <a:pt x="0" y="10662"/>
                  <a:pt x="0" y="23817"/>
                </a:cubicBezTo>
                <a:lnTo>
                  <a:pt x="23817" y="23817"/>
                </a:lnTo>
                <a:lnTo>
                  <a:pt x="2381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title" idx="2"/>
          </p:nvPr>
        </p:nvSpPr>
        <p:spPr>
          <a:xfrm>
            <a:off x="720000" y="1801575"/>
            <a:ext cx="352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 idx="3"/>
          </p:nvPr>
        </p:nvSpPr>
        <p:spPr>
          <a:xfrm>
            <a:off x="4901688" y="1801575"/>
            <a:ext cx="352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20000" y="2195175"/>
            <a:ext cx="3522300" cy="19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4"/>
          </p:nvPr>
        </p:nvSpPr>
        <p:spPr>
          <a:xfrm>
            <a:off x="4901700" y="2195175"/>
            <a:ext cx="3522300" cy="19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9pPr>
          </a:lstStyle>
          <a:p>
            <a:endParaRPr/>
          </a:p>
        </p:txBody>
      </p:sp>
      <p:grpSp>
        <p:nvGrpSpPr>
          <p:cNvPr id="37" name="Google Shape;37;p5"/>
          <p:cNvGrpSpPr/>
          <p:nvPr/>
        </p:nvGrpSpPr>
        <p:grpSpPr>
          <a:xfrm>
            <a:off x="719100" y="539400"/>
            <a:ext cx="7705800" cy="4064700"/>
            <a:chOff x="719100" y="539400"/>
            <a:chExt cx="7705800" cy="4064700"/>
          </a:xfrm>
        </p:grpSpPr>
        <p:cxnSp>
          <p:nvCxnSpPr>
            <p:cNvPr id="38" name="Google Shape;38;p5"/>
            <p:cNvCxnSpPr/>
            <p:nvPr/>
          </p:nvCxnSpPr>
          <p:spPr>
            <a:xfrm>
              <a:off x="719100" y="5394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39;p5"/>
            <p:cNvCxnSpPr/>
            <p:nvPr/>
          </p:nvCxnSpPr>
          <p:spPr>
            <a:xfrm>
              <a:off x="719100" y="46041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 flipH="1">
            <a:off x="8233251" y="348662"/>
            <a:ext cx="381489" cy="381489"/>
          </a:xfrm>
          <a:custGeom>
            <a:avLst/>
            <a:gdLst/>
            <a:ahLst/>
            <a:cxnLst/>
            <a:rect l="l" t="t" r="r" b="b"/>
            <a:pathLst>
              <a:path w="23817" h="23817" extrusionOk="0">
                <a:moveTo>
                  <a:pt x="23817" y="0"/>
                </a:moveTo>
                <a:cubicBezTo>
                  <a:pt x="10662" y="0"/>
                  <a:pt x="0" y="10662"/>
                  <a:pt x="0" y="23817"/>
                </a:cubicBezTo>
                <a:lnTo>
                  <a:pt x="23817" y="23817"/>
                </a:lnTo>
                <a:lnTo>
                  <a:pt x="2381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719100" y="539400"/>
            <a:ext cx="7705800" cy="4064700"/>
            <a:chOff x="719100" y="539400"/>
            <a:chExt cx="7705800" cy="4064700"/>
          </a:xfrm>
        </p:grpSpPr>
        <p:cxnSp>
          <p:nvCxnSpPr>
            <p:cNvPr id="43" name="Google Shape;43;p6"/>
            <p:cNvCxnSpPr/>
            <p:nvPr/>
          </p:nvCxnSpPr>
          <p:spPr>
            <a:xfrm>
              <a:off x="719100" y="5394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" name="Google Shape;44;p6"/>
            <p:cNvCxnSpPr/>
            <p:nvPr/>
          </p:nvCxnSpPr>
          <p:spPr>
            <a:xfrm>
              <a:off x="719100" y="46041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 rot="-5400000" flipH="1">
            <a:off x="529251" y="4413362"/>
            <a:ext cx="381489" cy="381489"/>
          </a:xfrm>
          <a:custGeom>
            <a:avLst/>
            <a:gdLst/>
            <a:ahLst/>
            <a:cxnLst/>
            <a:rect l="l" t="t" r="r" b="b"/>
            <a:pathLst>
              <a:path w="23817" h="23817" extrusionOk="0">
                <a:moveTo>
                  <a:pt x="23817" y="0"/>
                </a:moveTo>
                <a:cubicBezTo>
                  <a:pt x="10662" y="0"/>
                  <a:pt x="0" y="10662"/>
                  <a:pt x="0" y="23817"/>
                </a:cubicBezTo>
                <a:lnTo>
                  <a:pt x="23817" y="23817"/>
                </a:lnTo>
                <a:lnTo>
                  <a:pt x="2381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1302700" y="1389775"/>
            <a:ext cx="5490000" cy="132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40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ubTitle" idx="1"/>
          </p:nvPr>
        </p:nvSpPr>
        <p:spPr>
          <a:xfrm>
            <a:off x="1302700" y="2793725"/>
            <a:ext cx="5490000" cy="868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50" name="Google Shape;50;p7"/>
          <p:cNvGrpSpPr/>
          <p:nvPr/>
        </p:nvGrpSpPr>
        <p:grpSpPr>
          <a:xfrm>
            <a:off x="719100" y="539400"/>
            <a:ext cx="7705800" cy="4064700"/>
            <a:chOff x="719100" y="539400"/>
            <a:chExt cx="7705800" cy="4064700"/>
          </a:xfrm>
        </p:grpSpPr>
        <p:cxnSp>
          <p:nvCxnSpPr>
            <p:cNvPr id="51" name="Google Shape;51;p7"/>
            <p:cNvCxnSpPr/>
            <p:nvPr/>
          </p:nvCxnSpPr>
          <p:spPr>
            <a:xfrm>
              <a:off x="719100" y="5394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" name="Google Shape;52;p7"/>
            <p:cNvCxnSpPr/>
            <p:nvPr/>
          </p:nvCxnSpPr>
          <p:spPr>
            <a:xfrm>
              <a:off x="719100" y="46041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3" name="Google Shape;53;p7"/>
          <p:cNvSpPr/>
          <p:nvPr/>
        </p:nvSpPr>
        <p:spPr>
          <a:xfrm rot="5400000">
            <a:off x="8020160" y="204135"/>
            <a:ext cx="670627" cy="670508"/>
          </a:xfrm>
          <a:custGeom>
            <a:avLst/>
            <a:gdLst/>
            <a:ahLst/>
            <a:cxnLst/>
            <a:rect l="l" t="t" r="r" b="b"/>
            <a:pathLst>
              <a:path w="23817" h="23817" extrusionOk="0">
                <a:moveTo>
                  <a:pt x="23817" y="0"/>
                </a:moveTo>
                <a:cubicBezTo>
                  <a:pt x="10662" y="0"/>
                  <a:pt x="0" y="10662"/>
                  <a:pt x="0" y="23817"/>
                </a:cubicBezTo>
                <a:lnTo>
                  <a:pt x="23817" y="23817"/>
                </a:lnTo>
                <a:lnTo>
                  <a:pt x="23817" y="0"/>
                </a:lnTo>
                <a:close/>
              </a:path>
            </a:pathLst>
          </a:custGeom>
          <a:gradFill>
            <a:gsLst>
              <a:gs pos="0">
                <a:srgbClr val="174B67">
                  <a:alpha val="34901"/>
                </a:srgbClr>
              </a:gs>
              <a:gs pos="100000">
                <a:srgbClr val="174B67">
                  <a:alpha val="5882"/>
                </a:srgbClr>
              </a:gs>
            </a:gsLst>
            <a:lin ang="189007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 rot="10800000">
            <a:off x="8243792" y="4413356"/>
            <a:ext cx="381489" cy="381489"/>
          </a:xfrm>
          <a:custGeom>
            <a:avLst/>
            <a:gdLst/>
            <a:ahLst/>
            <a:cxnLst/>
            <a:rect l="l" t="t" r="r" b="b"/>
            <a:pathLst>
              <a:path w="23817" h="23817" extrusionOk="0">
                <a:moveTo>
                  <a:pt x="23817" y="0"/>
                </a:moveTo>
                <a:cubicBezTo>
                  <a:pt x="10662" y="0"/>
                  <a:pt x="0" y="10662"/>
                  <a:pt x="0" y="23817"/>
                </a:cubicBezTo>
                <a:lnTo>
                  <a:pt x="23817" y="23817"/>
                </a:lnTo>
                <a:lnTo>
                  <a:pt x="2381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56;p8"/>
          <p:cNvGrpSpPr/>
          <p:nvPr/>
        </p:nvGrpSpPr>
        <p:grpSpPr>
          <a:xfrm>
            <a:off x="719100" y="539400"/>
            <a:ext cx="7705800" cy="4064700"/>
            <a:chOff x="719100" y="539400"/>
            <a:chExt cx="7705800" cy="4064700"/>
          </a:xfrm>
        </p:grpSpPr>
        <p:cxnSp>
          <p:nvCxnSpPr>
            <p:cNvPr id="57" name="Google Shape;57;p8"/>
            <p:cNvCxnSpPr/>
            <p:nvPr/>
          </p:nvCxnSpPr>
          <p:spPr>
            <a:xfrm>
              <a:off x="719100" y="5394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>
              <a:off x="719100" y="46041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3270000" y="1517550"/>
            <a:ext cx="5154000" cy="21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/>
          <p:nvPr/>
        </p:nvSpPr>
        <p:spPr>
          <a:xfrm rot="-5400000">
            <a:off x="529251" y="4413362"/>
            <a:ext cx="381489" cy="381489"/>
          </a:xfrm>
          <a:custGeom>
            <a:avLst/>
            <a:gdLst/>
            <a:ahLst/>
            <a:cxnLst/>
            <a:rect l="l" t="t" r="r" b="b"/>
            <a:pathLst>
              <a:path w="23817" h="23817" extrusionOk="0">
                <a:moveTo>
                  <a:pt x="23817" y="0"/>
                </a:moveTo>
                <a:cubicBezTo>
                  <a:pt x="10662" y="0"/>
                  <a:pt x="0" y="10662"/>
                  <a:pt x="0" y="23817"/>
                </a:cubicBezTo>
                <a:lnTo>
                  <a:pt x="23817" y="23817"/>
                </a:lnTo>
                <a:lnTo>
                  <a:pt x="2381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1"/>
          </p:nvPr>
        </p:nvSpPr>
        <p:spPr>
          <a:xfrm>
            <a:off x="720000" y="1570575"/>
            <a:ext cx="4047000" cy="21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-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4" name="Google Shape;64;p9"/>
          <p:cNvGrpSpPr/>
          <p:nvPr/>
        </p:nvGrpSpPr>
        <p:grpSpPr>
          <a:xfrm>
            <a:off x="719100" y="539400"/>
            <a:ext cx="7705800" cy="4064700"/>
            <a:chOff x="719100" y="539400"/>
            <a:chExt cx="7705800" cy="4064700"/>
          </a:xfrm>
        </p:grpSpPr>
        <p:cxnSp>
          <p:nvCxnSpPr>
            <p:cNvPr id="65" name="Google Shape;65;p9"/>
            <p:cNvCxnSpPr/>
            <p:nvPr/>
          </p:nvCxnSpPr>
          <p:spPr>
            <a:xfrm>
              <a:off x="719100" y="5394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>
              <a:off x="719100" y="46041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>
            <a:spLocks noGrp="1"/>
          </p:cNvSpPr>
          <p:nvPr>
            <p:ph type="pic" idx="2"/>
          </p:nvPr>
        </p:nvSpPr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1150150" y="3999000"/>
            <a:ext cx="6843600" cy="605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"/>
              <a:buFont typeface="Poppins SemiBold"/>
              <a:buNone/>
              <a:defRPr sz="2500"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/>
          <p:nvPr/>
        </p:nvSpPr>
        <p:spPr>
          <a:xfrm>
            <a:off x="8233251" y="4413362"/>
            <a:ext cx="381489" cy="381489"/>
          </a:xfrm>
          <a:custGeom>
            <a:avLst/>
            <a:gdLst/>
            <a:ahLst/>
            <a:cxnLst/>
            <a:rect l="l" t="t" r="r" b="b"/>
            <a:pathLst>
              <a:path w="23817" h="23817" extrusionOk="0">
                <a:moveTo>
                  <a:pt x="23817" y="0"/>
                </a:moveTo>
                <a:cubicBezTo>
                  <a:pt x="10662" y="0"/>
                  <a:pt x="0" y="10662"/>
                  <a:pt x="0" y="23817"/>
                </a:cubicBezTo>
                <a:lnTo>
                  <a:pt x="23817" y="23817"/>
                </a:lnTo>
                <a:lnTo>
                  <a:pt x="2381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13"/>
          <p:cNvGrpSpPr/>
          <p:nvPr/>
        </p:nvGrpSpPr>
        <p:grpSpPr>
          <a:xfrm>
            <a:off x="719100" y="539400"/>
            <a:ext cx="7705800" cy="4064700"/>
            <a:chOff x="719100" y="539400"/>
            <a:chExt cx="7705800" cy="4064700"/>
          </a:xfrm>
        </p:grpSpPr>
        <p:cxnSp>
          <p:nvCxnSpPr>
            <p:cNvPr id="85" name="Google Shape;85;p13"/>
            <p:cNvCxnSpPr/>
            <p:nvPr/>
          </p:nvCxnSpPr>
          <p:spPr>
            <a:xfrm>
              <a:off x="719100" y="5394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" name="Google Shape;86;p13"/>
            <p:cNvCxnSpPr/>
            <p:nvPr/>
          </p:nvCxnSpPr>
          <p:spPr>
            <a:xfrm>
              <a:off x="719100" y="46041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2"/>
          </p:nvPr>
        </p:nvSpPr>
        <p:spPr>
          <a:xfrm>
            <a:off x="853112" y="2164725"/>
            <a:ext cx="3292800" cy="3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3"/>
          </p:nvPr>
        </p:nvSpPr>
        <p:spPr>
          <a:xfrm>
            <a:off x="4999514" y="2164725"/>
            <a:ext cx="3292800" cy="3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853112" y="2484449"/>
            <a:ext cx="3292800" cy="3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4"/>
          </p:nvPr>
        </p:nvSpPr>
        <p:spPr>
          <a:xfrm>
            <a:off x="4999514" y="2484474"/>
            <a:ext cx="3292800" cy="3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/>
          </p:nvPr>
        </p:nvSpPr>
        <p:spPr>
          <a:xfrm>
            <a:off x="851688" y="3726225"/>
            <a:ext cx="3292800" cy="3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/>
          </p:nvPr>
        </p:nvSpPr>
        <p:spPr>
          <a:xfrm>
            <a:off x="4998111" y="3726225"/>
            <a:ext cx="3292800" cy="3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851726" y="4045999"/>
            <a:ext cx="3292800" cy="3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998138" y="4046025"/>
            <a:ext cx="3292800" cy="3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9" hasCustomPrompt="1"/>
          </p:nvPr>
        </p:nvSpPr>
        <p:spPr>
          <a:xfrm>
            <a:off x="853113" y="1423425"/>
            <a:ext cx="775800" cy="665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400"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13" hasCustomPrompt="1"/>
          </p:nvPr>
        </p:nvSpPr>
        <p:spPr>
          <a:xfrm>
            <a:off x="853100" y="2984924"/>
            <a:ext cx="775800" cy="665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400"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14" hasCustomPrompt="1"/>
          </p:nvPr>
        </p:nvSpPr>
        <p:spPr>
          <a:xfrm>
            <a:off x="4998100" y="1423424"/>
            <a:ext cx="775800" cy="665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400"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15" hasCustomPrompt="1"/>
          </p:nvPr>
        </p:nvSpPr>
        <p:spPr>
          <a:xfrm>
            <a:off x="4998100" y="2934225"/>
            <a:ext cx="775800" cy="715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400"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 rot="-5400000">
            <a:off x="529251" y="4413362"/>
            <a:ext cx="381489" cy="381489"/>
          </a:xfrm>
          <a:custGeom>
            <a:avLst/>
            <a:gdLst/>
            <a:ahLst/>
            <a:cxnLst/>
            <a:rect l="l" t="t" r="r" b="b"/>
            <a:pathLst>
              <a:path w="23817" h="23817" extrusionOk="0">
                <a:moveTo>
                  <a:pt x="23817" y="0"/>
                </a:moveTo>
                <a:cubicBezTo>
                  <a:pt x="10662" y="0"/>
                  <a:pt x="0" y="10662"/>
                  <a:pt x="0" y="23817"/>
                </a:cubicBezTo>
                <a:lnTo>
                  <a:pt x="23817" y="23817"/>
                </a:lnTo>
                <a:lnTo>
                  <a:pt x="2381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title"/>
          </p:nvPr>
        </p:nvSpPr>
        <p:spPr>
          <a:xfrm>
            <a:off x="2311527" y="1561425"/>
            <a:ext cx="1934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title" idx="2"/>
          </p:nvPr>
        </p:nvSpPr>
        <p:spPr>
          <a:xfrm>
            <a:off x="5638486" y="1561425"/>
            <a:ext cx="1934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subTitle" idx="1"/>
          </p:nvPr>
        </p:nvSpPr>
        <p:spPr>
          <a:xfrm>
            <a:off x="2311525" y="1878825"/>
            <a:ext cx="1934400" cy="71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5"/>
          <p:cNvSpPr txBox="1">
            <a:spLocks noGrp="1"/>
          </p:cNvSpPr>
          <p:nvPr>
            <p:ph type="subTitle" idx="3"/>
          </p:nvPr>
        </p:nvSpPr>
        <p:spPr>
          <a:xfrm>
            <a:off x="5638476" y="1878825"/>
            <a:ext cx="1934400" cy="71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title" idx="4"/>
          </p:nvPr>
        </p:nvSpPr>
        <p:spPr>
          <a:xfrm>
            <a:off x="2311527" y="3136075"/>
            <a:ext cx="1934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title" idx="5"/>
          </p:nvPr>
        </p:nvSpPr>
        <p:spPr>
          <a:xfrm>
            <a:off x="5638475" y="3136075"/>
            <a:ext cx="1934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5"/>
          <p:cNvSpPr txBox="1">
            <a:spLocks noGrp="1"/>
          </p:cNvSpPr>
          <p:nvPr>
            <p:ph type="subTitle" idx="6"/>
          </p:nvPr>
        </p:nvSpPr>
        <p:spPr>
          <a:xfrm>
            <a:off x="2311525" y="3453475"/>
            <a:ext cx="1934400" cy="71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subTitle" idx="7"/>
          </p:nvPr>
        </p:nvSpPr>
        <p:spPr>
          <a:xfrm>
            <a:off x="5638475" y="3453475"/>
            <a:ext cx="1934400" cy="71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title" idx="8"/>
          </p:nvPr>
        </p:nvSpPr>
        <p:spPr>
          <a:xfrm>
            <a:off x="720000" y="539400"/>
            <a:ext cx="7704000" cy="5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25" name="Google Shape;125;p15"/>
          <p:cNvGrpSpPr/>
          <p:nvPr/>
        </p:nvGrpSpPr>
        <p:grpSpPr>
          <a:xfrm>
            <a:off x="719100" y="539400"/>
            <a:ext cx="7705800" cy="4064700"/>
            <a:chOff x="719100" y="539400"/>
            <a:chExt cx="7705800" cy="4064700"/>
          </a:xfrm>
        </p:grpSpPr>
        <p:cxnSp>
          <p:nvCxnSpPr>
            <p:cNvPr id="126" name="Google Shape;126;p15"/>
            <p:cNvCxnSpPr/>
            <p:nvPr/>
          </p:nvCxnSpPr>
          <p:spPr>
            <a:xfrm>
              <a:off x="719100" y="5394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7" name="Google Shape;127;p15"/>
            <p:cNvCxnSpPr/>
            <p:nvPr/>
          </p:nvCxnSpPr>
          <p:spPr>
            <a:xfrm>
              <a:off x="719100" y="46041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3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/>
          <p:nvPr/>
        </p:nvSpPr>
        <p:spPr>
          <a:xfrm rot="5400000">
            <a:off x="8243792" y="4413356"/>
            <a:ext cx="381489" cy="381489"/>
          </a:xfrm>
          <a:custGeom>
            <a:avLst/>
            <a:gdLst/>
            <a:ahLst/>
            <a:cxnLst/>
            <a:rect l="l" t="t" r="r" b="b"/>
            <a:pathLst>
              <a:path w="23817" h="23817" extrusionOk="0">
                <a:moveTo>
                  <a:pt x="23817" y="0"/>
                </a:moveTo>
                <a:cubicBezTo>
                  <a:pt x="10662" y="0"/>
                  <a:pt x="0" y="10662"/>
                  <a:pt x="0" y="23817"/>
                </a:cubicBezTo>
                <a:lnTo>
                  <a:pt x="23817" y="23817"/>
                </a:lnTo>
                <a:lnTo>
                  <a:pt x="2381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" name="Google Shape;136;p17"/>
          <p:cNvGrpSpPr/>
          <p:nvPr/>
        </p:nvGrpSpPr>
        <p:grpSpPr>
          <a:xfrm>
            <a:off x="719100" y="539400"/>
            <a:ext cx="7705800" cy="4064700"/>
            <a:chOff x="719100" y="539400"/>
            <a:chExt cx="7705800" cy="4064700"/>
          </a:xfrm>
        </p:grpSpPr>
        <p:cxnSp>
          <p:nvCxnSpPr>
            <p:cNvPr id="137" name="Google Shape;137;p17"/>
            <p:cNvCxnSpPr/>
            <p:nvPr/>
          </p:nvCxnSpPr>
          <p:spPr>
            <a:xfrm>
              <a:off x="719100" y="5394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" name="Google Shape;138;p17"/>
            <p:cNvCxnSpPr/>
            <p:nvPr/>
          </p:nvCxnSpPr>
          <p:spPr>
            <a:xfrm>
              <a:off x="719100" y="46041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9" name="Google Shape;139;p17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/>
          <p:nvPr/>
        </p:nvSpPr>
        <p:spPr>
          <a:xfrm rot="5400000">
            <a:off x="8309239" y="348662"/>
            <a:ext cx="381489" cy="381489"/>
          </a:xfrm>
          <a:custGeom>
            <a:avLst/>
            <a:gdLst/>
            <a:ahLst/>
            <a:cxnLst/>
            <a:rect l="l" t="t" r="r" b="b"/>
            <a:pathLst>
              <a:path w="23817" h="23817" extrusionOk="0">
                <a:moveTo>
                  <a:pt x="23817" y="0"/>
                </a:moveTo>
                <a:cubicBezTo>
                  <a:pt x="10662" y="0"/>
                  <a:pt x="0" y="10662"/>
                  <a:pt x="0" y="23817"/>
                </a:cubicBezTo>
                <a:lnTo>
                  <a:pt x="23817" y="23817"/>
                </a:lnTo>
                <a:lnTo>
                  <a:pt x="2381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" name="Google Shape;166;p21"/>
          <p:cNvGrpSpPr/>
          <p:nvPr/>
        </p:nvGrpSpPr>
        <p:grpSpPr>
          <a:xfrm>
            <a:off x="719100" y="539400"/>
            <a:ext cx="7705800" cy="4064700"/>
            <a:chOff x="719100" y="539400"/>
            <a:chExt cx="7705800" cy="4064700"/>
          </a:xfrm>
        </p:grpSpPr>
        <p:cxnSp>
          <p:nvCxnSpPr>
            <p:cNvPr id="167" name="Google Shape;167;p21"/>
            <p:cNvCxnSpPr/>
            <p:nvPr/>
          </p:nvCxnSpPr>
          <p:spPr>
            <a:xfrm>
              <a:off x="719100" y="5394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" name="Google Shape;168;p21"/>
            <p:cNvCxnSpPr/>
            <p:nvPr/>
          </p:nvCxnSpPr>
          <p:spPr>
            <a:xfrm>
              <a:off x="719100" y="46041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9" name="Google Shape;169;p21"/>
          <p:cNvGrpSpPr/>
          <p:nvPr/>
        </p:nvGrpSpPr>
        <p:grpSpPr>
          <a:xfrm rot="5400000">
            <a:off x="-430099" y="3200731"/>
            <a:ext cx="2284753" cy="1607435"/>
            <a:chOff x="5539150" y="3176875"/>
            <a:chExt cx="2029449" cy="1427308"/>
          </a:xfrm>
        </p:grpSpPr>
        <p:sp>
          <p:nvSpPr>
            <p:cNvPr id="170" name="Google Shape;170;p21"/>
            <p:cNvSpPr/>
            <p:nvPr/>
          </p:nvSpPr>
          <p:spPr>
            <a:xfrm rot="-5400000" flipH="1">
              <a:off x="6844880" y="3880443"/>
              <a:ext cx="849332" cy="598104"/>
            </a:xfrm>
            <a:custGeom>
              <a:avLst/>
              <a:gdLst/>
              <a:ahLst/>
              <a:cxnLst/>
              <a:rect l="l" t="t" r="r" b="b"/>
              <a:pathLst>
                <a:path w="47635" h="23817" extrusionOk="0">
                  <a:moveTo>
                    <a:pt x="1" y="0"/>
                  </a:moveTo>
                  <a:lnTo>
                    <a:pt x="1" y="23817"/>
                  </a:lnTo>
                  <a:lnTo>
                    <a:pt x="47634" y="23817"/>
                  </a:lnTo>
                  <a:lnTo>
                    <a:pt x="47634" y="0"/>
                  </a:lnTo>
                  <a:close/>
                </a:path>
              </a:pathLst>
            </a:custGeom>
            <a:gradFill>
              <a:gsLst>
                <a:gs pos="0">
                  <a:srgbClr val="174B67">
                    <a:alpha val="34901"/>
                  </a:srgbClr>
                </a:gs>
                <a:gs pos="100000">
                  <a:srgbClr val="174B67">
                    <a:alpha val="5882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1"/>
            <p:cNvSpPr/>
            <p:nvPr/>
          </p:nvSpPr>
          <p:spPr>
            <a:xfrm rot="-5400000" flipH="1">
              <a:off x="5541174" y="3174850"/>
              <a:ext cx="1427293" cy="1431342"/>
            </a:xfrm>
            <a:custGeom>
              <a:avLst/>
              <a:gdLst/>
              <a:ahLst/>
              <a:cxnLst/>
              <a:rect l="l" t="t" r="r" b="b"/>
              <a:pathLst>
                <a:path w="23817" h="23817" extrusionOk="0">
                  <a:moveTo>
                    <a:pt x="23817" y="0"/>
                  </a:moveTo>
                  <a:cubicBezTo>
                    <a:pt x="10662" y="0"/>
                    <a:pt x="0" y="10662"/>
                    <a:pt x="0" y="23817"/>
                  </a:cubicBezTo>
                  <a:lnTo>
                    <a:pt x="23817" y="23817"/>
                  </a:lnTo>
                  <a:lnTo>
                    <a:pt x="23817" y="0"/>
                  </a:lnTo>
                  <a:close/>
                </a:path>
              </a:pathLst>
            </a:custGeom>
            <a:gradFill>
              <a:gsLst>
                <a:gs pos="0">
                  <a:srgbClr val="174B67">
                    <a:alpha val="34901"/>
                  </a:srgbClr>
                </a:gs>
                <a:gs pos="100000">
                  <a:srgbClr val="174B67">
                    <a:alpha val="5882"/>
                  </a:srgbClr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1"/>
            <p:cNvSpPr/>
            <p:nvPr/>
          </p:nvSpPr>
          <p:spPr>
            <a:xfrm rot="-5400000" flipH="1">
              <a:off x="6122188" y="3755881"/>
              <a:ext cx="847111" cy="849493"/>
            </a:xfrm>
            <a:custGeom>
              <a:avLst/>
              <a:gdLst/>
              <a:ahLst/>
              <a:cxnLst/>
              <a:rect l="l" t="t" r="r" b="b"/>
              <a:pathLst>
                <a:path w="23817" h="23817" extrusionOk="0">
                  <a:moveTo>
                    <a:pt x="23817" y="0"/>
                  </a:moveTo>
                  <a:cubicBezTo>
                    <a:pt x="10662" y="0"/>
                    <a:pt x="0" y="10662"/>
                    <a:pt x="0" y="23817"/>
                  </a:cubicBezTo>
                  <a:lnTo>
                    <a:pt x="23817" y="23817"/>
                  </a:lnTo>
                  <a:lnTo>
                    <a:pt x="23817" y="0"/>
                  </a:lnTo>
                  <a:close/>
                </a:path>
              </a:pathLst>
            </a:custGeom>
            <a:gradFill>
              <a:gsLst>
                <a:gs pos="0">
                  <a:srgbClr val="174B67">
                    <a:alpha val="14901"/>
                  </a:srgbClr>
                </a:gs>
                <a:gs pos="100000">
                  <a:srgbClr val="174B67">
                    <a:alpha val="25882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2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/>
          <p:nvPr/>
        </p:nvSpPr>
        <p:spPr>
          <a:xfrm rot="-5400000">
            <a:off x="529251" y="4413362"/>
            <a:ext cx="381489" cy="381489"/>
          </a:xfrm>
          <a:custGeom>
            <a:avLst/>
            <a:gdLst/>
            <a:ahLst/>
            <a:cxnLst/>
            <a:rect l="l" t="t" r="r" b="b"/>
            <a:pathLst>
              <a:path w="23817" h="23817" extrusionOk="0">
                <a:moveTo>
                  <a:pt x="23817" y="0"/>
                </a:moveTo>
                <a:cubicBezTo>
                  <a:pt x="10662" y="0"/>
                  <a:pt x="0" y="10662"/>
                  <a:pt x="0" y="23817"/>
                </a:cubicBezTo>
                <a:lnTo>
                  <a:pt x="23817" y="23817"/>
                </a:lnTo>
                <a:lnTo>
                  <a:pt x="2381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5" name="Google Shape;175;p22"/>
          <p:cNvGrpSpPr/>
          <p:nvPr/>
        </p:nvGrpSpPr>
        <p:grpSpPr>
          <a:xfrm>
            <a:off x="719100" y="539400"/>
            <a:ext cx="7705800" cy="4064700"/>
            <a:chOff x="719100" y="539400"/>
            <a:chExt cx="7705800" cy="4064700"/>
          </a:xfrm>
        </p:grpSpPr>
        <p:cxnSp>
          <p:nvCxnSpPr>
            <p:cNvPr id="176" name="Google Shape;176;p22"/>
            <p:cNvCxnSpPr/>
            <p:nvPr/>
          </p:nvCxnSpPr>
          <p:spPr>
            <a:xfrm>
              <a:off x="719100" y="5394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" name="Google Shape;177;p22"/>
            <p:cNvCxnSpPr/>
            <p:nvPr/>
          </p:nvCxnSpPr>
          <p:spPr>
            <a:xfrm>
              <a:off x="719100" y="4604100"/>
              <a:ext cx="770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8" name="Google Shape;178;p22"/>
          <p:cNvGrpSpPr/>
          <p:nvPr/>
        </p:nvGrpSpPr>
        <p:grpSpPr>
          <a:xfrm rot="10800000" flipH="1">
            <a:off x="6949440" y="209181"/>
            <a:ext cx="2284753" cy="1607435"/>
            <a:chOff x="5539150" y="3176875"/>
            <a:chExt cx="2029449" cy="1427308"/>
          </a:xfrm>
        </p:grpSpPr>
        <p:sp>
          <p:nvSpPr>
            <p:cNvPr id="179" name="Google Shape;179;p22"/>
            <p:cNvSpPr/>
            <p:nvPr/>
          </p:nvSpPr>
          <p:spPr>
            <a:xfrm rot="-5400000" flipH="1">
              <a:off x="6844880" y="3880443"/>
              <a:ext cx="849332" cy="598104"/>
            </a:xfrm>
            <a:custGeom>
              <a:avLst/>
              <a:gdLst/>
              <a:ahLst/>
              <a:cxnLst/>
              <a:rect l="l" t="t" r="r" b="b"/>
              <a:pathLst>
                <a:path w="47635" h="23817" extrusionOk="0">
                  <a:moveTo>
                    <a:pt x="1" y="0"/>
                  </a:moveTo>
                  <a:lnTo>
                    <a:pt x="1" y="23817"/>
                  </a:lnTo>
                  <a:lnTo>
                    <a:pt x="47634" y="23817"/>
                  </a:lnTo>
                  <a:lnTo>
                    <a:pt x="47634" y="0"/>
                  </a:lnTo>
                  <a:close/>
                </a:path>
              </a:pathLst>
            </a:custGeom>
            <a:gradFill>
              <a:gsLst>
                <a:gs pos="0">
                  <a:srgbClr val="174B67">
                    <a:alpha val="34901"/>
                  </a:srgbClr>
                </a:gs>
                <a:gs pos="100000">
                  <a:srgbClr val="174B67">
                    <a:alpha val="5882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2"/>
            <p:cNvSpPr/>
            <p:nvPr/>
          </p:nvSpPr>
          <p:spPr>
            <a:xfrm rot="-5400000" flipH="1">
              <a:off x="5541174" y="3174850"/>
              <a:ext cx="1427293" cy="1431342"/>
            </a:xfrm>
            <a:custGeom>
              <a:avLst/>
              <a:gdLst/>
              <a:ahLst/>
              <a:cxnLst/>
              <a:rect l="l" t="t" r="r" b="b"/>
              <a:pathLst>
                <a:path w="23817" h="23817" extrusionOk="0">
                  <a:moveTo>
                    <a:pt x="23817" y="0"/>
                  </a:moveTo>
                  <a:cubicBezTo>
                    <a:pt x="10662" y="0"/>
                    <a:pt x="0" y="10662"/>
                    <a:pt x="0" y="23817"/>
                  </a:cubicBezTo>
                  <a:lnTo>
                    <a:pt x="23817" y="23817"/>
                  </a:lnTo>
                  <a:lnTo>
                    <a:pt x="23817" y="0"/>
                  </a:lnTo>
                  <a:close/>
                </a:path>
              </a:pathLst>
            </a:custGeom>
            <a:gradFill>
              <a:gsLst>
                <a:gs pos="0">
                  <a:srgbClr val="174B67">
                    <a:alpha val="34901"/>
                  </a:srgbClr>
                </a:gs>
                <a:gs pos="100000">
                  <a:srgbClr val="174B67">
                    <a:alpha val="5882"/>
                  </a:srgbClr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2"/>
            <p:cNvSpPr/>
            <p:nvPr/>
          </p:nvSpPr>
          <p:spPr>
            <a:xfrm rot="-5400000" flipH="1">
              <a:off x="6122188" y="3755881"/>
              <a:ext cx="847111" cy="849493"/>
            </a:xfrm>
            <a:custGeom>
              <a:avLst/>
              <a:gdLst/>
              <a:ahLst/>
              <a:cxnLst/>
              <a:rect l="l" t="t" r="r" b="b"/>
              <a:pathLst>
                <a:path w="23817" h="23817" extrusionOk="0">
                  <a:moveTo>
                    <a:pt x="23817" y="0"/>
                  </a:moveTo>
                  <a:cubicBezTo>
                    <a:pt x="10662" y="0"/>
                    <a:pt x="0" y="10662"/>
                    <a:pt x="0" y="23817"/>
                  </a:cubicBezTo>
                  <a:lnTo>
                    <a:pt x="23817" y="23817"/>
                  </a:lnTo>
                  <a:lnTo>
                    <a:pt x="23817" y="0"/>
                  </a:lnTo>
                  <a:close/>
                </a:path>
              </a:pathLst>
            </a:custGeom>
            <a:gradFill>
              <a:gsLst>
                <a:gs pos="0">
                  <a:srgbClr val="174B67">
                    <a:alpha val="14901"/>
                  </a:srgbClr>
                </a:gs>
                <a:gs pos="100000">
                  <a:srgbClr val="174B67">
                    <a:alpha val="25882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●"/>
              <a:defRPr sz="120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○"/>
              <a:defRPr sz="120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■"/>
              <a:defRPr sz="120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●"/>
              <a:defRPr sz="120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○"/>
              <a:defRPr sz="120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■"/>
              <a:defRPr sz="120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●"/>
              <a:defRPr sz="120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○"/>
              <a:defRPr sz="120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■"/>
              <a:defRPr sz="120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1" r:id="rId11"/>
    <p:sldLayoutId id="2147483663" r:id="rId12"/>
    <p:sldLayoutId id="2147483667" r:id="rId13"/>
    <p:sldLayoutId id="2147483668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>
            <a:spLocks noGrp="1"/>
          </p:cNvSpPr>
          <p:nvPr>
            <p:ph type="ctrTitle"/>
          </p:nvPr>
        </p:nvSpPr>
        <p:spPr>
          <a:xfrm>
            <a:off x="-317861" y="941402"/>
            <a:ext cx="7724502" cy="255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CUSTOMER SEGMENTATION ANALYSIS</a:t>
            </a:r>
            <a:endParaRPr sz="5400" b="0" dirty="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3" name="Google Shape;193;p26"/>
          <p:cNvSpPr txBox="1">
            <a:spLocks noGrp="1"/>
          </p:cNvSpPr>
          <p:nvPr>
            <p:ph type="subTitle" idx="1"/>
          </p:nvPr>
        </p:nvSpPr>
        <p:spPr>
          <a:xfrm>
            <a:off x="2486678" y="3951628"/>
            <a:ext cx="2115424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 Poline Haroutounian</a:t>
            </a:r>
            <a:endParaRPr dirty="0"/>
          </a:p>
        </p:txBody>
      </p:sp>
      <p:grpSp>
        <p:nvGrpSpPr>
          <p:cNvPr id="194" name="Google Shape;194;p26"/>
          <p:cNvGrpSpPr/>
          <p:nvPr/>
        </p:nvGrpSpPr>
        <p:grpSpPr>
          <a:xfrm>
            <a:off x="7406640" y="0"/>
            <a:ext cx="1763123" cy="2853109"/>
            <a:chOff x="7400700" y="0"/>
            <a:chExt cx="1747050" cy="2853109"/>
          </a:xfrm>
        </p:grpSpPr>
        <p:sp>
          <p:nvSpPr>
            <p:cNvPr id="195" name="Google Shape;195;p26"/>
            <p:cNvSpPr/>
            <p:nvPr/>
          </p:nvSpPr>
          <p:spPr>
            <a:xfrm rot="5400000">
              <a:off x="7402546" y="1107904"/>
              <a:ext cx="1743359" cy="1747050"/>
            </a:xfrm>
            <a:custGeom>
              <a:avLst/>
              <a:gdLst/>
              <a:ahLst/>
              <a:cxnLst/>
              <a:rect l="l" t="t" r="r" b="b"/>
              <a:pathLst>
                <a:path w="23818" h="23818" extrusionOk="0">
                  <a:moveTo>
                    <a:pt x="0" y="1"/>
                  </a:moveTo>
                  <a:lnTo>
                    <a:pt x="0" y="23817"/>
                  </a:lnTo>
                  <a:cubicBezTo>
                    <a:pt x="13155" y="23817"/>
                    <a:pt x="23817" y="13155"/>
                    <a:pt x="23817" y="1"/>
                  </a:cubicBezTo>
                  <a:close/>
                </a:path>
              </a:pathLst>
            </a:custGeom>
            <a:gradFill>
              <a:gsLst>
                <a:gs pos="0">
                  <a:srgbClr val="174B67">
                    <a:alpha val="34901"/>
                  </a:srgbClr>
                </a:gs>
                <a:gs pos="100000">
                  <a:srgbClr val="174B67">
                    <a:alpha val="588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6"/>
            <p:cNvSpPr/>
            <p:nvPr/>
          </p:nvSpPr>
          <p:spPr>
            <a:xfrm rot="5400000">
              <a:off x="8036028" y="1107829"/>
              <a:ext cx="1109800" cy="1113645"/>
            </a:xfrm>
            <a:custGeom>
              <a:avLst/>
              <a:gdLst/>
              <a:ahLst/>
              <a:cxnLst/>
              <a:rect l="l" t="t" r="r" b="b"/>
              <a:pathLst>
                <a:path w="11909" h="11910" extrusionOk="0">
                  <a:moveTo>
                    <a:pt x="0" y="1"/>
                  </a:moveTo>
                  <a:lnTo>
                    <a:pt x="0" y="11909"/>
                  </a:lnTo>
                  <a:cubicBezTo>
                    <a:pt x="6581" y="11909"/>
                    <a:pt x="11909" y="6581"/>
                    <a:pt x="11909" y="1"/>
                  </a:cubicBezTo>
                  <a:close/>
                </a:path>
              </a:pathLst>
            </a:custGeom>
            <a:gradFill>
              <a:gsLst>
                <a:gs pos="0">
                  <a:srgbClr val="174B67">
                    <a:alpha val="14901"/>
                    <a:alpha val="15000"/>
                  </a:srgbClr>
                </a:gs>
                <a:gs pos="100000">
                  <a:srgbClr val="174B67">
                    <a:alpha val="30196"/>
                    <a:alpha val="15000"/>
                  </a:srgbClr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6"/>
            <p:cNvSpPr/>
            <p:nvPr/>
          </p:nvSpPr>
          <p:spPr>
            <a:xfrm rot="5400000">
              <a:off x="8036028" y="-1922"/>
              <a:ext cx="1109800" cy="1113645"/>
            </a:xfrm>
            <a:custGeom>
              <a:avLst/>
              <a:gdLst/>
              <a:ahLst/>
              <a:cxnLst/>
              <a:rect l="l" t="t" r="r" b="b"/>
              <a:pathLst>
                <a:path w="11909" h="11910" extrusionOk="0">
                  <a:moveTo>
                    <a:pt x="0" y="1"/>
                  </a:moveTo>
                  <a:cubicBezTo>
                    <a:pt x="0" y="6581"/>
                    <a:pt x="5334" y="11909"/>
                    <a:pt x="11908" y="11909"/>
                  </a:cubicBezTo>
                  <a:lnTo>
                    <a:pt x="11908" y="1"/>
                  </a:lnTo>
                  <a:close/>
                </a:path>
              </a:pathLst>
            </a:custGeom>
            <a:gradFill>
              <a:gsLst>
                <a:gs pos="0">
                  <a:srgbClr val="293F5D">
                    <a:alpha val="20000"/>
                  </a:srgbClr>
                </a:gs>
                <a:gs pos="100000">
                  <a:srgbClr val="4B4F73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&amp; Dataset Overview</a:t>
            </a:r>
            <a:endParaRPr dirty="0"/>
          </a:p>
        </p:txBody>
      </p:sp>
      <p:sp>
        <p:nvSpPr>
          <p:cNvPr id="204" name="Google Shape;204;p27"/>
          <p:cNvSpPr txBox="1"/>
          <p:nvPr/>
        </p:nvSpPr>
        <p:spPr>
          <a:xfrm>
            <a:off x="720000" y="1272554"/>
            <a:ext cx="3652694" cy="208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Livvic Medium"/>
                <a:ea typeface="Livvic Medium"/>
                <a:cs typeface="Livvic Medium"/>
                <a:sym typeface="Livvic Medium"/>
              </a:rPr>
              <a:t>Numerical variables: balance and age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Livvic Medium"/>
                <a:ea typeface="Livvic Medium"/>
                <a:cs typeface="Livvic Medium"/>
                <a:sym typeface="Livvic Medium"/>
              </a:rPr>
              <a:t>Categorical variables: job, marital, education, default, housing and loan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Livvic Medium"/>
                <a:ea typeface="Livvic Medium"/>
                <a:cs typeface="Livvic Medium"/>
                <a:sym typeface="Livvic Medium"/>
              </a:rPr>
              <a:t>Data preprocessing: data was cleaned by handling missing values and outliers were identified and removed from “age” and “balance” columns by visualizing their boxplots.</a:t>
            </a:r>
            <a:endParaRPr sz="1200" dirty="0">
              <a:solidFill>
                <a:schemeClr val="dk1"/>
              </a:solidFill>
              <a:latin typeface="Livvic Medium"/>
              <a:ea typeface="Livvic Medium"/>
              <a:cs typeface="Livvic Medium"/>
              <a:sym typeface="Livvic Medium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5350005" y="1056667"/>
            <a:ext cx="3187337" cy="3392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Livvic Medium"/>
                <a:ea typeface="Livvic Medium"/>
                <a:cs typeface="Livvic Medium"/>
                <a:sym typeface="Livvic Medium"/>
              </a:rPr>
              <a:t>Research Questions: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 dirty="0">
              <a:solidFill>
                <a:schemeClr val="dk1"/>
              </a:solidFill>
              <a:latin typeface="Livvic Medium"/>
              <a:ea typeface="Livvic Medium"/>
              <a:cs typeface="Livvic Medium"/>
              <a:sym typeface="Livvic Medium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 dirty="0">
              <a:solidFill>
                <a:schemeClr val="dk1"/>
              </a:solidFill>
              <a:latin typeface="Livvic Medium"/>
              <a:ea typeface="Livvic Medium"/>
              <a:cs typeface="Livvic Medium"/>
              <a:sym typeface="Livvic Medium"/>
            </a:endParaRPr>
          </a:p>
          <a:p>
            <a:pPr marL="22860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solidFill>
                  <a:schemeClr val="dk1"/>
                </a:solidFill>
                <a:latin typeface="Livvic Medium"/>
                <a:ea typeface="Livvic Medium"/>
                <a:cs typeface="Livvic Medium"/>
                <a:sym typeface="Livvic Medium"/>
              </a:rPr>
              <a:t>How can the bank leverage customer clusters to tailor financial products?</a:t>
            </a:r>
          </a:p>
          <a:p>
            <a:pPr marL="22860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1200" dirty="0">
              <a:solidFill>
                <a:schemeClr val="dk1"/>
              </a:solidFill>
              <a:latin typeface="Livvic Medium"/>
              <a:ea typeface="Livvic Medium"/>
              <a:cs typeface="Livvic Medium"/>
              <a:sym typeface="Livvic Medium"/>
            </a:endParaRPr>
          </a:p>
          <a:p>
            <a:pPr marL="22860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solidFill>
                  <a:schemeClr val="dk1"/>
                </a:solidFill>
                <a:latin typeface="Livvic Medium"/>
                <a:ea typeface="Livvic Medium"/>
                <a:cs typeface="Livvic Medium"/>
                <a:sym typeface="Livvic Medium"/>
              </a:rPr>
              <a:t>How can association rules help improve customer assessment models for predicting loan defaults?</a:t>
            </a:r>
          </a:p>
          <a:p>
            <a:pPr marL="22860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1200" dirty="0">
              <a:solidFill>
                <a:schemeClr val="dk1"/>
              </a:solidFill>
              <a:latin typeface="Livvic Medium"/>
              <a:ea typeface="Livvic Medium"/>
              <a:cs typeface="Livvic Medium"/>
              <a:sym typeface="Livvic Medium"/>
            </a:endParaRPr>
          </a:p>
          <a:p>
            <a:pPr marL="22860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solidFill>
                  <a:schemeClr val="dk1"/>
                </a:solidFill>
                <a:latin typeface="Livvic Medium"/>
                <a:ea typeface="Livvic Medium"/>
                <a:cs typeface="Livvic Medium"/>
                <a:sym typeface="Livvic Medium"/>
              </a:rPr>
              <a:t>How can the bank optimize resource allocation by identifying high-demand segments? </a:t>
            </a:r>
            <a:endParaRPr sz="1200" dirty="0">
              <a:solidFill>
                <a:schemeClr val="dk1"/>
              </a:solidFill>
              <a:latin typeface="Livvic Medium"/>
              <a:ea typeface="Livvic Medium"/>
              <a:cs typeface="Livvic Medium"/>
              <a:sym typeface="Livvic Medium"/>
            </a:endParaRPr>
          </a:p>
        </p:txBody>
      </p:sp>
      <p:sp>
        <p:nvSpPr>
          <p:cNvPr id="206" name="Google Shape;206;p27"/>
          <p:cNvSpPr txBox="1">
            <a:spLocks noGrp="1"/>
          </p:cNvSpPr>
          <p:nvPr>
            <p:ph type="body" idx="1"/>
          </p:nvPr>
        </p:nvSpPr>
        <p:spPr>
          <a:xfrm>
            <a:off x="962544" y="858967"/>
            <a:ext cx="2258331" cy="3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Dataset Overview</a:t>
            </a:r>
            <a:endParaRPr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7E192D-03D4-3142-8D0C-7EAE9CAB0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89" y="3458282"/>
            <a:ext cx="2474866" cy="1484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154818-F7A0-884C-8F7B-724550C38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5155" y="3476468"/>
            <a:ext cx="2414246" cy="14485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>
            <a:spLocks noGrp="1"/>
          </p:cNvSpPr>
          <p:nvPr>
            <p:ph type="title" idx="6"/>
          </p:nvPr>
        </p:nvSpPr>
        <p:spPr>
          <a:xfrm>
            <a:off x="240759" y="796928"/>
            <a:ext cx="3292800" cy="3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Clustering Method:</a:t>
            </a:r>
            <a:endParaRPr dirty="0"/>
          </a:p>
        </p:txBody>
      </p:sp>
      <p:sp>
        <p:nvSpPr>
          <p:cNvPr id="215" name="Google Shape;215;p28"/>
          <p:cNvSpPr txBox="1">
            <a:spLocks noGrp="1"/>
          </p:cNvSpPr>
          <p:nvPr>
            <p:ph type="title"/>
          </p:nvPr>
        </p:nvSpPr>
        <p:spPr>
          <a:xfrm>
            <a:off x="682929" y="9148"/>
            <a:ext cx="7704000" cy="5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Clustering Approach &amp; Results</a:t>
            </a:r>
            <a:endParaRPr dirty="0"/>
          </a:p>
        </p:txBody>
      </p:sp>
      <p:sp>
        <p:nvSpPr>
          <p:cNvPr id="216" name="Google Shape;216;p28"/>
          <p:cNvSpPr txBox="1">
            <a:spLocks noGrp="1"/>
          </p:cNvSpPr>
          <p:nvPr>
            <p:ph type="title" idx="2"/>
          </p:nvPr>
        </p:nvSpPr>
        <p:spPr>
          <a:xfrm>
            <a:off x="136638" y="2404035"/>
            <a:ext cx="3292800" cy="3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Results: </a:t>
            </a:r>
            <a:endParaRPr dirty="0"/>
          </a:p>
        </p:txBody>
      </p:sp>
      <p:sp>
        <p:nvSpPr>
          <p:cNvPr id="218" name="Google Shape;218;p28"/>
          <p:cNvSpPr txBox="1">
            <a:spLocks noGrp="1"/>
          </p:cNvSpPr>
          <p:nvPr>
            <p:ph type="subTitle" idx="1"/>
          </p:nvPr>
        </p:nvSpPr>
        <p:spPr>
          <a:xfrm>
            <a:off x="240759" y="1192928"/>
            <a:ext cx="4766670" cy="10800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dirty="0"/>
              <a:t>K-means clustering was performed to group customers based on age and balance.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N</a:t>
            </a:r>
            <a:r>
              <a:rPr lang="en" dirty="0"/>
              <a:t>o PCA used, since reducing </a:t>
            </a:r>
            <a:r>
              <a:rPr lang="en-US" dirty="0"/>
              <a:t>dimensionality</a:t>
            </a:r>
            <a:r>
              <a:rPr lang="en" dirty="0"/>
              <a:t> was not </a:t>
            </a:r>
            <a:r>
              <a:rPr lang="en-US" dirty="0"/>
              <a:t>necessary.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StandardScaler was used to scale the data.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Outliers were removed in order to gain clear clusters</a:t>
            </a:r>
            <a:r>
              <a:rPr lang="en" dirty="0"/>
              <a:t> </a:t>
            </a:r>
            <a:endParaRPr dirty="0"/>
          </a:p>
        </p:txBody>
      </p:sp>
      <p:sp>
        <p:nvSpPr>
          <p:cNvPr id="219" name="Google Shape;219;p28"/>
          <p:cNvSpPr txBox="1">
            <a:spLocks noGrp="1"/>
          </p:cNvSpPr>
          <p:nvPr>
            <p:ph type="subTitle" idx="4"/>
          </p:nvPr>
        </p:nvSpPr>
        <p:spPr>
          <a:xfrm>
            <a:off x="136638" y="2655277"/>
            <a:ext cx="4234514" cy="21438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b="1" dirty="0"/>
              <a:t>C</a:t>
            </a:r>
            <a:r>
              <a:rPr lang="en" b="1" dirty="0"/>
              <a:t>luster 0: </a:t>
            </a:r>
            <a:r>
              <a:rPr lang="en" dirty="0"/>
              <a:t>represents middle-aged individuals with low balance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b="1" dirty="0"/>
              <a:t>C</a:t>
            </a:r>
            <a:r>
              <a:rPr lang="en" b="1" dirty="0"/>
              <a:t>luster 1: </a:t>
            </a:r>
            <a:r>
              <a:rPr lang="en" dirty="0"/>
              <a:t>represents mostly young customers with average to low balance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b="1" dirty="0"/>
              <a:t>C</a:t>
            </a:r>
            <a:r>
              <a:rPr lang="en" b="1" dirty="0"/>
              <a:t>luster 2: </a:t>
            </a:r>
            <a:r>
              <a:rPr lang="en" dirty="0"/>
              <a:t>represents all customers with high balance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dirty="0"/>
              <a:t>Marital and job status: cluster 1 has the highest </a:t>
            </a:r>
            <a:r>
              <a:rPr lang="en-US" dirty="0"/>
              <a:t>proportion</a:t>
            </a:r>
            <a:r>
              <a:rPr lang="en" dirty="0"/>
              <a:t> of married and single individuals and management jobs are the most </a:t>
            </a:r>
            <a:r>
              <a:rPr lang="en-US" dirty="0"/>
              <a:t>prevalent</a:t>
            </a:r>
            <a:r>
              <a:rPr lang="en" dirty="0"/>
              <a:t>.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908965-6D61-7F48-9B9D-3F4822D08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029" y="526948"/>
            <a:ext cx="3458479" cy="20750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8E67103-A261-C747-824D-3FBDE72F2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147" y="2548670"/>
            <a:ext cx="2397817" cy="143869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47CA47-A5CA-B843-A2CD-FA165D5EDC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280" y="3268015"/>
            <a:ext cx="2709912" cy="16259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>
            <a:spLocks noGrp="1"/>
          </p:cNvSpPr>
          <p:nvPr>
            <p:ph type="title"/>
          </p:nvPr>
        </p:nvSpPr>
        <p:spPr>
          <a:xfrm>
            <a:off x="539129" y="25000"/>
            <a:ext cx="7704000" cy="5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Association Rules &amp; Results</a:t>
            </a:r>
            <a:endParaRPr dirty="0"/>
          </a:p>
        </p:txBody>
      </p:sp>
      <p:sp>
        <p:nvSpPr>
          <p:cNvPr id="251" name="Google Shape;251;p31"/>
          <p:cNvSpPr txBox="1"/>
          <p:nvPr/>
        </p:nvSpPr>
        <p:spPr>
          <a:xfrm>
            <a:off x="112197" y="1117775"/>
            <a:ext cx="3964075" cy="1896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D</a:t>
            </a:r>
            <a:r>
              <a:rPr lang="en" sz="1200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ata was binarized so that all values were binary(One-Hot Encoding)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N</a:t>
            </a:r>
            <a:r>
              <a:rPr lang="en" sz="1200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umerical variables (age and balance) were split into 2 categories : above median and below median.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Apriori algorithm was used for association rule mining.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T</a:t>
            </a:r>
            <a:r>
              <a:rPr lang="en" sz="1200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he support threshold was set to 0.05 to filter out rare </a:t>
            </a:r>
            <a:r>
              <a:rPr lang="en-US" sz="1200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item sets</a:t>
            </a:r>
            <a:r>
              <a:rPr lang="en" sz="1200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L</a:t>
            </a:r>
            <a:r>
              <a:rPr lang="en" sz="1200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ift was used to identify strong relationships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1200" dirty="0">
              <a:solidFill>
                <a:schemeClr val="dk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1200" dirty="0">
              <a:solidFill>
                <a:schemeClr val="dk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200" dirty="0">
              <a:solidFill>
                <a:schemeClr val="dk1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254" name="Google Shape;254;p31"/>
          <p:cNvSpPr txBox="1"/>
          <p:nvPr/>
        </p:nvSpPr>
        <p:spPr>
          <a:xfrm>
            <a:off x="46950" y="3365537"/>
            <a:ext cx="8574536" cy="755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S</a:t>
            </a:r>
            <a:r>
              <a:rPr lang="en" sz="1200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ingle customers with a management job and not in default are the most likely not to have a loan and to have tertiary education.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chemeClr val="dk1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255" name="Google Shape;255;p31"/>
          <p:cNvSpPr txBox="1"/>
          <p:nvPr/>
        </p:nvSpPr>
        <p:spPr>
          <a:xfrm>
            <a:off x="0" y="811479"/>
            <a:ext cx="2194500" cy="3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Livvic SemiBold"/>
                <a:ea typeface="Livvic SemiBold"/>
                <a:cs typeface="Livvic SemiBold"/>
                <a:sym typeface="Livvic SemiBold"/>
              </a:rPr>
              <a:t>Data Processing:</a:t>
            </a:r>
            <a:endParaRPr b="1" dirty="0">
              <a:solidFill>
                <a:schemeClr val="dk1"/>
              </a:solidFill>
              <a:latin typeface="Livvic SemiBold"/>
              <a:ea typeface="Livvic SemiBold"/>
              <a:cs typeface="Livvic SemiBold"/>
              <a:sym typeface="Livvic SemiBold"/>
            </a:endParaRPr>
          </a:p>
        </p:txBody>
      </p:sp>
      <p:sp>
        <p:nvSpPr>
          <p:cNvPr id="256" name="Google Shape;256;p31"/>
          <p:cNvSpPr txBox="1"/>
          <p:nvPr/>
        </p:nvSpPr>
        <p:spPr>
          <a:xfrm>
            <a:off x="-131897" y="3197676"/>
            <a:ext cx="1789874" cy="23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Livvic SemiBold"/>
                <a:ea typeface="Livvic SemiBold"/>
                <a:cs typeface="Livvic SemiBold"/>
                <a:sym typeface="Livvic SemiBold"/>
              </a:rPr>
              <a:t>Key</a:t>
            </a:r>
            <a:r>
              <a:rPr lang="en" dirty="0">
                <a:solidFill>
                  <a:schemeClr val="dk1"/>
                </a:solidFill>
                <a:latin typeface="Livvic SemiBold"/>
                <a:ea typeface="Livvic SemiBold"/>
                <a:cs typeface="Livvic SemiBold"/>
                <a:sym typeface="Livvic SemiBold"/>
              </a:rPr>
              <a:t> </a:t>
            </a:r>
            <a:r>
              <a:rPr lang="en" b="1" dirty="0">
                <a:solidFill>
                  <a:schemeClr val="dk1"/>
                </a:solidFill>
                <a:latin typeface="Livvic SemiBold"/>
                <a:ea typeface="Livvic SemiBold"/>
                <a:cs typeface="Livvic SemiBold"/>
                <a:sym typeface="Livvic SemiBold"/>
              </a:rPr>
              <a:t>rule</a:t>
            </a:r>
            <a:r>
              <a:rPr lang="en" dirty="0">
                <a:solidFill>
                  <a:schemeClr val="dk1"/>
                </a:solidFill>
                <a:latin typeface="Livvic SemiBold"/>
                <a:ea typeface="Livvic SemiBold"/>
                <a:cs typeface="Livvic SemiBold"/>
                <a:sym typeface="Livvic SemiBold"/>
              </a:rPr>
              <a:t>:</a:t>
            </a:r>
            <a:endParaRPr dirty="0">
              <a:solidFill>
                <a:schemeClr val="dk1"/>
              </a:solidFill>
              <a:latin typeface="Livvic SemiBold"/>
              <a:ea typeface="Livvic SemiBold"/>
              <a:cs typeface="Livvic SemiBold"/>
              <a:sym typeface="Livvic SemiBold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565452-DA92-2549-AFAC-7A58DD5997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80" t="3793" b="77929"/>
          <a:stretch/>
        </p:blipFill>
        <p:spPr>
          <a:xfrm>
            <a:off x="444847" y="4288841"/>
            <a:ext cx="8415903" cy="6065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1EDB3A-7B31-AF4E-A65D-4FA5753A8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798" y="787726"/>
            <a:ext cx="3670238" cy="20588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 txBox="1">
            <a:spLocks noGrp="1"/>
          </p:cNvSpPr>
          <p:nvPr>
            <p:ph type="title" idx="8"/>
          </p:nvPr>
        </p:nvSpPr>
        <p:spPr>
          <a:xfrm>
            <a:off x="730048" y="56956"/>
            <a:ext cx="7704000" cy="5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Business Insights &amp; </a:t>
            </a:r>
            <a:r>
              <a:rPr lang="en-US" dirty="0"/>
              <a:t>Recommendations</a:t>
            </a:r>
            <a:endParaRPr dirty="0"/>
          </a:p>
        </p:txBody>
      </p:sp>
      <p:sp>
        <p:nvSpPr>
          <p:cNvPr id="287" name="Google Shape;287;p33"/>
          <p:cNvSpPr txBox="1">
            <a:spLocks noGrp="1"/>
          </p:cNvSpPr>
          <p:nvPr>
            <p:ph type="subTitle" idx="1"/>
          </p:nvPr>
        </p:nvSpPr>
        <p:spPr>
          <a:xfrm>
            <a:off x="327378" y="869244"/>
            <a:ext cx="8263466" cy="3476978"/>
          </a:xfrm>
          <a:prstGeom prst="rect">
            <a:avLst/>
          </a:prstGeom>
        </p:spPr>
        <p:txBody>
          <a:bodyPr spcFirstLastPara="1" wrap="square" lIns="90000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300" b="1" dirty="0"/>
              <a:t>Insight 1:</a:t>
            </a:r>
            <a:r>
              <a:rPr lang="en-US" sz="1300" dirty="0"/>
              <a:t> middle-aged customers with low balances may be facing financial struggles and may risk not having enough savings for emergencies or retirement.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13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300" b="1" dirty="0"/>
              <a:t>Recommendation 1:</a:t>
            </a:r>
            <a:r>
              <a:rPr lang="en-US" sz="1300" dirty="0"/>
              <a:t> the bank can offer savings plans to encourage customers to make small and consistent deposits in order to build up their funds.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13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300" b="1" dirty="0"/>
              <a:t>Insight 2: </a:t>
            </a:r>
            <a:r>
              <a:rPr lang="en-US" sz="1300" dirty="0"/>
              <a:t>single customers with management jobs who are not in default are less likely to have loans which implies higher financial stability.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300" b="1" dirty="0"/>
              <a:t>Recommendation 2: </a:t>
            </a:r>
            <a:r>
              <a:rPr lang="en-US" sz="1300" dirty="0"/>
              <a:t>the bank can make alternative offerings such as wealth planning services or even investment advice.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300" b="1" dirty="0"/>
              <a:t>Insight 3: </a:t>
            </a:r>
            <a:r>
              <a:rPr lang="en-US" sz="1300" dirty="0"/>
              <a:t>younger customers who have low to average account balances may be in the beginning of their financial journey and may be in need of financial assistance.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sz="1300" b="1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300" b="1" dirty="0"/>
              <a:t>Recommendation 3: </a:t>
            </a:r>
            <a:r>
              <a:rPr lang="en-US" sz="1300" dirty="0"/>
              <a:t> the bank could offer smaller and more manageable loans to these individuals, with lower interest rates in order for them to build up their credit history.</a:t>
            </a:r>
            <a:endParaRPr lang="en-US" sz="1300" b="1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 txBox="1">
            <a:spLocks noGrp="1"/>
          </p:cNvSpPr>
          <p:nvPr>
            <p:ph type="title"/>
          </p:nvPr>
        </p:nvSpPr>
        <p:spPr>
          <a:xfrm>
            <a:off x="720012" y="0"/>
            <a:ext cx="7704000" cy="5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Limitations &amp; Ethical Considerations</a:t>
            </a:r>
            <a:endParaRPr dirty="0"/>
          </a:p>
        </p:txBody>
      </p:sp>
      <p:sp>
        <p:nvSpPr>
          <p:cNvPr id="265" name="Google Shape;265;p32"/>
          <p:cNvSpPr txBox="1"/>
          <p:nvPr/>
        </p:nvSpPr>
        <p:spPr>
          <a:xfrm>
            <a:off x="4831644" y="846667"/>
            <a:ext cx="3939823" cy="368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Ethical Considerations: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dk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Livvic"/>
                <a:ea typeface="Livvic"/>
                <a:cs typeface="Livvic"/>
                <a:sym typeface="Livvic"/>
              </a:rPr>
              <a:t>Bias:</a:t>
            </a:r>
            <a:r>
              <a:rPr lang="en-US" dirty="0">
                <a:solidFill>
                  <a:schemeClr val="tx1"/>
                </a:solidFill>
                <a:latin typeface="Livvic"/>
                <a:ea typeface="Livvic"/>
                <a:cs typeface="Livvic"/>
                <a:sym typeface="Livvic"/>
              </a:rPr>
              <a:t> demographic variables such as marital status and age may lead to creating false assumptions and in turn inappropriate recommendations for financial services.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b="1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Data privacy and transparency: </a:t>
            </a:r>
            <a:r>
              <a:rPr lang="en-US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customers should be aware of their data being used for analysis and this data should be handled securely and ethically.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solidFill>
                <a:schemeClr val="dk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dk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266" name="Google Shape;266;p32"/>
          <p:cNvSpPr txBox="1"/>
          <p:nvPr/>
        </p:nvSpPr>
        <p:spPr>
          <a:xfrm>
            <a:off x="270934" y="846667"/>
            <a:ext cx="4346222" cy="339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b="1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Limitations: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en" b="1" dirty="0">
              <a:solidFill>
                <a:schemeClr val="dk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+mj-lt"/>
              <a:buAutoNum type="arabicPeriod"/>
            </a:pPr>
            <a:r>
              <a:rPr lang="en" b="1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Limited variables: </a:t>
            </a:r>
            <a:r>
              <a:rPr lang="en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this dataset does not fully capture the complexity of customer behavior as it does not include information on spending habits and income. 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Font typeface="+mj-lt"/>
              <a:buAutoNum type="arabicPeriod"/>
            </a:pPr>
            <a:r>
              <a:rPr lang="en-US" b="1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L</a:t>
            </a:r>
            <a:r>
              <a:rPr lang="en" b="1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oss of information: </a:t>
            </a:r>
            <a:r>
              <a:rPr lang="en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during association rule    mining, continuous variables such as balance were transformed into binary variables causing the loss of potential strong relationships.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+mj-lt"/>
              <a:buAutoNum type="arabicPeriod"/>
            </a:pPr>
            <a:endParaRPr lang="en" dirty="0">
              <a:solidFill>
                <a:schemeClr val="dk1"/>
              </a:solidFill>
              <a:latin typeface="Livvic"/>
              <a:ea typeface="Livvic"/>
              <a:cs typeface="Livvic"/>
              <a:sym typeface="Livvic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endParaRPr lang="en" dirty="0">
              <a:solidFill>
                <a:schemeClr val="dk1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>
            <a:spLocks noGrp="1"/>
          </p:cNvSpPr>
          <p:nvPr>
            <p:ph type="title"/>
          </p:nvPr>
        </p:nvSpPr>
        <p:spPr>
          <a:xfrm>
            <a:off x="1088211" y="-90313"/>
            <a:ext cx="6746278" cy="8272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 &amp; Next Steps</a:t>
            </a:r>
            <a:endParaRPr dirty="0"/>
          </a:p>
        </p:txBody>
      </p:sp>
      <p:sp>
        <p:nvSpPr>
          <p:cNvPr id="241" name="Google Shape;241;p30"/>
          <p:cNvSpPr txBox="1">
            <a:spLocks noGrp="1"/>
          </p:cNvSpPr>
          <p:nvPr>
            <p:ph type="subTitle" idx="1"/>
          </p:nvPr>
        </p:nvSpPr>
        <p:spPr>
          <a:xfrm>
            <a:off x="704389" y="1004711"/>
            <a:ext cx="3969212" cy="2691081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Clustering has helped provide customer segments to which the bank can personalize services based on age and account balance.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/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Association rules have highlighted areas in which the bank should look into reallocation of services such as wealth management and investment guidance.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EE4676-3BC1-AA45-B68B-9FF6CD40FC90}"/>
              </a:ext>
            </a:extLst>
          </p:cNvPr>
          <p:cNvSpPr txBox="1"/>
          <p:nvPr/>
        </p:nvSpPr>
        <p:spPr>
          <a:xfrm>
            <a:off x="5328356" y="1095022"/>
            <a:ext cx="3330222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Abadi MT Condensed Light" panose="020B0306030101010103" pitchFamily="34" charset="77"/>
              </a:rPr>
              <a:t>Next steps: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badi MT Condensed Light" panose="020B0306030101010103" pitchFamily="34" charset="77"/>
              </a:rPr>
              <a:t>We could refine segmentation by adding more variables for a broader view of customer clusters.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Abadi MT Condensed Light" panose="020B03060301010101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badi MT Condensed Light" panose="020B0306030101010103" pitchFamily="34" charset="77"/>
              </a:rPr>
              <a:t>We could also expand rule mining by adding more customer behavioral data that would be categorical in order to not lose valuable information. 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4"/>
          <p:cNvSpPr txBox="1">
            <a:spLocks noGrp="1"/>
          </p:cNvSpPr>
          <p:nvPr>
            <p:ph type="title"/>
          </p:nvPr>
        </p:nvSpPr>
        <p:spPr>
          <a:xfrm>
            <a:off x="1196622" y="1517550"/>
            <a:ext cx="7227378" cy="21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Poppins Medium"/>
                <a:ea typeface="Poppins Medium"/>
                <a:cs typeface="Poppins Medium"/>
                <a:sym typeface="Poppins Medium"/>
              </a:rPr>
              <a:t>Thank you for your attention!</a:t>
            </a:r>
            <a:endParaRPr b="0" dirty="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318" name="Google Shape;318;p34"/>
          <p:cNvGrpSpPr/>
          <p:nvPr/>
        </p:nvGrpSpPr>
        <p:grpSpPr>
          <a:xfrm rot="10800000">
            <a:off x="-15421" y="-20376"/>
            <a:ext cx="2284753" cy="1607435"/>
            <a:chOff x="5539150" y="3176875"/>
            <a:chExt cx="2029449" cy="1427308"/>
          </a:xfrm>
        </p:grpSpPr>
        <p:sp>
          <p:nvSpPr>
            <p:cNvPr id="319" name="Google Shape;319;p34"/>
            <p:cNvSpPr/>
            <p:nvPr/>
          </p:nvSpPr>
          <p:spPr>
            <a:xfrm rot="-5400000" flipH="1">
              <a:off x="6844880" y="3880443"/>
              <a:ext cx="849332" cy="598104"/>
            </a:xfrm>
            <a:custGeom>
              <a:avLst/>
              <a:gdLst/>
              <a:ahLst/>
              <a:cxnLst/>
              <a:rect l="l" t="t" r="r" b="b"/>
              <a:pathLst>
                <a:path w="47635" h="23817" extrusionOk="0">
                  <a:moveTo>
                    <a:pt x="1" y="0"/>
                  </a:moveTo>
                  <a:lnTo>
                    <a:pt x="1" y="23817"/>
                  </a:lnTo>
                  <a:lnTo>
                    <a:pt x="47634" y="23817"/>
                  </a:lnTo>
                  <a:lnTo>
                    <a:pt x="47634" y="0"/>
                  </a:lnTo>
                  <a:close/>
                </a:path>
              </a:pathLst>
            </a:custGeom>
            <a:gradFill>
              <a:gsLst>
                <a:gs pos="0">
                  <a:srgbClr val="174B67">
                    <a:alpha val="34901"/>
                  </a:srgbClr>
                </a:gs>
                <a:gs pos="100000">
                  <a:srgbClr val="174B67">
                    <a:alpha val="5882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4"/>
            <p:cNvSpPr/>
            <p:nvPr/>
          </p:nvSpPr>
          <p:spPr>
            <a:xfrm rot="-5400000" flipH="1">
              <a:off x="5541174" y="3174850"/>
              <a:ext cx="1427293" cy="1431342"/>
            </a:xfrm>
            <a:custGeom>
              <a:avLst/>
              <a:gdLst/>
              <a:ahLst/>
              <a:cxnLst/>
              <a:rect l="l" t="t" r="r" b="b"/>
              <a:pathLst>
                <a:path w="23817" h="23817" extrusionOk="0">
                  <a:moveTo>
                    <a:pt x="23817" y="0"/>
                  </a:moveTo>
                  <a:cubicBezTo>
                    <a:pt x="10662" y="0"/>
                    <a:pt x="0" y="10662"/>
                    <a:pt x="0" y="23817"/>
                  </a:cubicBezTo>
                  <a:lnTo>
                    <a:pt x="23817" y="23817"/>
                  </a:lnTo>
                  <a:lnTo>
                    <a:pt x="23817" y="0"/>
                  </a:lnTo>
                  <a:close/>
                </a:path>
              </a:pathLst>
            </a:custGeom>
            <a:gradFill>
              <a:gsLst>
                <a:gs pos="0">
                  <a:srgbClr val="174B67">
                    <a:alpha val="34901"/>
                  </a:srgbClr>
                </a:gs>
                <a:gs pos="100000">
                  <a:srgbClr val="174B67">
                    <a:alpha val="5882"/>
                  </a:srgbClr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4"/>
            <p:cNvSpPr/>
            <p:nvPr/>
          </p:nvSpPr>
          <p:spPr>
            <a:xfrm rot="-5400000" flipH="1">
              <a:off x="6122188" y="3755881"/>
              <a:ext cx="847111" cy="849493"/>
            </a:xfrm>
            <a:custGeom>
              <a:avLst/>
              <a:gdLst/>
              <a:ahLst/>
              <a:cxnLst/>
              <a:rect l="l" t="t" r="r" b="b"/>
              <a:pathLst>
                <a:path w="23817" h="23817" extrusionOk="0">
                  <a:moveTo>
                    <a:pt x="23817" y="0"/>
                  </a:moveTo>
                  <a:cubicBezTo>
                    <a:pt x="10662" y="0"/>
                    <a:pt x="0" y="10662"/>
                    <a:pt x="0" y="23817"/>
                  </a:cubicBezTo>
                  <a:lnTo>
                    <a:pt x="23817" y="23817"/>
                  </a:lnTo>
                  <a:lnTo>
                    <a:pt x="23817" y="0"/>
                  </a:lnTo>
                  <a:close/>
                </a:path>
              </a:pathLst>
            </a:custGeom>
            <a:gradFill>
              <a:gsLst>
                <a:gs pos="0">
                  <a:srgbClr val="174B67">
                    <a:alpha val="14901"/>
                  </a:srgbClr>
                </a:gs>
                <a:gs pos="100000">
                  <a:srgbClr val="174B67">
                    <a:alpha val="25882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ank Loan Granting Consulting by Slidesgo">
  <a:themeElements>
    <a:clrScheme name="Simple Light">
      <a:dk1>
        <a:srgbClr val="174B67"/>
      </a:dk1>
      <a:lt1>
        <a:srgbClr val="F8F8F8"/>
      </a:lt1>
      <a:dk2>
        <a:srgbClr val="A7BBC7"/>
      </a:dk2>
      <a:lt2>
        <a:srgbClr val="DAE6EC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74B6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683</Words>
  <Application>Microsoft Macintosh PowerPoint</Application>
  <PresentationFormat>On-screen Show (16:9)</PresentationFormat>
  <Paragraphs>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Livvic SemiBold</vt:lpstr>
      <vt:lpstr>Abadi MT Condensed Light</vt:lpstr>
      <vt:lpstr>Livvic</vt:lpstr>
      <vt:lpstr>Roboto Condensed Light</vt:lpstr>
      <vt:lpstr>Arial</vt:lpstr>
      <vt:lpstr>Poppins</vt:lpstr>
      <vt:lpstr>Livvic Medium</vt:lpstr>
      <vt:lpstr>Poppins Medium</vt:lpstr>
      <vt:lpstr>Open Sans</vt:lpstr>
      <vt:lpstr>Poppins SemiBold</vt:lpstr>
      <vt:lpstr>Bank Loan Granting Consulting by Slidesgo</vt:lpstr>
      <vt:lpstr>CUSTOMER SEGMENTATION ANALYSIS</vt:lpstr>
      <vt:lpstr>Introduction &amp; Dataset Overview</vt:lpstr>
      <vt:lpstr>Clustering Method:</vt:lpstr>
      <vt:lpstr>Association Rules &amp; Results</vt:lpstr>
      <vt:lpstr>Business Insights &amp; Recommendations</vt:lpstr>
      <vt:lpstr>Limitations &amp; Ethical Considerations</vt:lpstr>
      <vt:lpstr>Conclusion &amp; Next Steps</vt:lpstr>
      <vt:lpstr>Thank you for your attention!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ANALYSIS</dc:title>
  <cp:lastModifiedBy>UG-Haroutounian, Poline</cp:lastModifiedBy>
  <cp:revision>17</cp:revision>
  <dcterms:modified xsi:type="dcterms:W3CDTF">2025-04-11T12:32:00Z</dcterms:modified>
</cp:coreProperties>
</file>